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9132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nces.ed.gov/ipeds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stat.ethz.ch/R-manual/R-devel/library/stats/html/lm.html" TargetMode="External"/><Relationship Id="rId5" Type="http://schemas.openxmlformats.org/officeDocument/2006/relationships/hyperlink" Target="https://rpubs.com/aaronsc32/regression-with-broom" TargetMode="External"/><Relationship Id="rId4" Type="http://schemas.openxmlformats.org/officeDocument/2006/relationships/hyperlink" Target="https://claude.ai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9900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6217920" cy="6858000"/>
          </a:xfrm>
          <a:prstGeom prst="rect">
            <a:avLst/>
          </a:prstGeom>
          <a:solidFill>
            <a:srgbClr val="FCF6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5303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Athletic Spending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Academic Outcomes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6576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CF6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cross-sectional analysis of NCAA institutions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4297680"/>
            <a:ext cx="548640" cy="36576"/>
          </a:xfrm>
          <a:prstGeom prst="rect">
            <a:avLst/>
          </a:prstGeom>
          <a:solidFill>
            <a:srgbClr val="FCF6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452628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Valentino Salerni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30, 2026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675120" y="1188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finding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169164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0" b="1" dirty="0">
                <a:solidFill>
                  <a:srgbClr val="9900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−1.12</a:t>
            </a:r>
            <a:endParaRPr lang="en-US" sz="11000" dirty="0"/>
          </a:p>
        </p:txBody>
      </p:sp>
      <p:sp>
        <p:nvSpPr>
          <p:cNvPr id="9" name="Text 7"/>
          <p:cNvSpPr/>
          <p:nvPr/>
        </p:nvSpPr>
        <p:spPr>
          <a:xfrm>
            <a:off x="6675120" y="320040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Within-division slope: a 1pp increase in athletic spending share is associated with roughly a 1pp drop in 6-year graduation rate.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75120" y="48463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445 NCAA D-I &amp; D-II public institutions  |  2023 academic year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990011"/>
                </a:solidFill>
              </a:rPr>
              <a:t>Research Question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question?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73152" cy="1828800"/>
          </a:xfrm>
          <a:prstGeom prst="rect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828800"/>
            <a:ext cx="5852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the share of institutional spending allocated to athletics correlate with academic outcomes (6-year graduation rates), and does this relationship vary across NCAA divisions?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13232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E2761"/>
                </a:solidFill>
              </a:rPr>
              <a:t>Why it matters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132320" y="219456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discourse questions whether large athletic budgets detract from academic mission or support it through enrollment, branding, and donor relationships.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NIL reforms and conference realignment have intensified the question of how athletic dollars relate to institutional outcomes.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4937760"/>
            <a:ext cx="11064240" cy="1188720"/>
          </a:xfrm>
          <a:prstGeom prst="rect">
            <a:avLst/>
          </a:prstGeom>
          <a:solidFill>
            <a:srgbClr val="FCF6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5074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990011"/>
                </a:solidFill>
              </a:rPr>
              <a:t>SCOPE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534924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Cross-sectional, descriptive.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Sample restricted to public NCAA D-I and D-II institutions for the 2023 academic year. Findings are correlational, not causal.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</a:rPr>
              <a:t>Athletic Spending &amp; Graduation Outcomes</a:t>
            </a:r>
            <a:r>
              <a:rPr lang="en-US" sz="900" dirty="0">
                <a:solidFill>
                  <a:srgbClr val="B8B8B8"/>
                </a:solidFill>
              </a:rPr>
              <a:t>  |  </a:t>
            </a:r>
            <a:r>
              <a:rPr lang="en-US" sz="900" dirty="0">
                <a:solidFill>
                  <a:srgbClr val="6B6B6B"/>
                </a:solidFill>
              </a:rPr>
              <a:t>2 /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990011"/>
                </a:solidFill>
              </a:rPr>
              <a:t>Data Collection &amp; Understanding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federal data sources, merged on UNITID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80060" y="1691640"/>
            <a:ext cx="3611880" cy="4114800"/>
          </a:xfrm>
          <a:prstGeom prst="rect">
            <a:avLst/>
          </a:prstGeom>
          <a:solidFill>
            <a:srgbClr val="FCF6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80060" y="1691640"/>
            <a:ext cx="3611880" cy="73152"/>
          </a:xfrm>
          <a:prstGeom prst="rect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5438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9900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54380" y="25146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EADA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54380" y="29260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</a:rPr>
              <a:t>Equity in Athletics Disclosure Act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54380" y="33375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</a:rPr>
              <a:t>Source: Office of Postsecondary Education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54380" y="379476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990011"/>
                </a:solidFill>
              </a:rPr>
              <a:t>ROLE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54380" y="40233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</a:rPr>
              <a:t>Athletic spending (numerator)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54380" y="443484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990011"/>
                </a:solidFill>
              </a:rPr>
              <a:t>KEY VARIABLE(S)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54380" y="46634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Grand Total Expenses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54380" y="53492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761"/>
                </a:solidFill>
              </a:rPr>
              <a:t>1,319 schools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74820" y="1691640"/>
            <a:ext cx="3611880" cy="4114800"/>
          </a:xfrm>
          <a:prstGeom prst="rect">
            <a:avLst/>
          </a:prstGeom>
          <a:solidFill>
            <a:srgbClr val="FCF6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274820" y="1691640"/>
            <a:ext cx="3611880" cy="73152"/>
          </a:xfrm>
          <a:prstGeom prst="rect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4914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9900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4549140" y="25146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IPEDS Finance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4549140" y="29260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</a:rPr>
              <a:t>F1A — public institutions, GASB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49140" y="33375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</a:rPr>
              <a:t>Source: NCES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49140" y="379476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990011"/>
                </a:solidFill>
              </a:rPr>
              <a:t>ROLE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49140" y="40233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</a:rPr>
              <a:t>Total expenses (denominator)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49140" y="443484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990011"/>
                </a:solidFill>
              </a:rPr>
              <a:t>KEY VARIABLE(S)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49140" y="46634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F1C191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49140" y="53492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761"/>
                </a:solidFill>
              </a:rPr>
              <a:t>1,916 schools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069580" y="1691640"/>
            <a:ext cx="3611880" cy="4114800"/>
          </a:xfrm>
          <a:prstGeom prst="rect">
            <a:avLst/>
          </a:prstGeom>
          <a:solidFill>
            <a:srgbClr val="FCF6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069580" y="1691640"/>
            <a:ext cx="3611880" cy="73152"/>
          </a:xfrm>
          <a:prstGeom prst="rect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34390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9900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8343900" y="25146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IPEDS Graduation Rates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8343900" y="29260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</a:rPr>
              <a:t>GR2023 — 2017 cohort, 6-year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343900" y="33375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</a:rPr>
              <a:t>Source: NCES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343900" y="379476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990011"/>
                </a:solidFill>
              </a:rPr>
              <a:t>ROLE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343900" y="40233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</a:rPr>
              <a:t>Outcome variable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343900" y="443484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990011"/>
                </a:solidFill>
              </a:rPr>
              <a:t>KEY VARIABLE(S)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343900" y="46634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GRTYPE 8 &amp; 9 (cohort, completers)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343900" y="53492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761"/>
                </a:solidFill>
              </a:rPr>
              <a:t>51,391 records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 </a:t>
            </a: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F1A covers only public institutions (GASB). Private nonprofits report on F2 (FASB) — different accounting standards make harmonization noisy. Restricting to F1A excludes most D-III schools and ~45% of EADA filers.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</a:rPr>
              <a:t>Athletic Spending &amp; Graduation Outcomes</a:t>
            </a:r>
            <a:r>
              <a:rPr lang="en-US" sz="900" dirty="0">
                <a:solidFill>
                  <a:srgbClr val="B8B8B8"/>
                </a:solidFill>
              </a:rPr>
              <a:t>  |  </a:t>
            </a:r>
            <a:r>
              <a:rPr lang="en-US" sz="900" dirty="0">
                <a:solidFill>
                  <a:srgbClr val="6B6B6B"/>
                </a:solidFill>
              </a:rPr>
              <a:t>3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990011"/>
                </a:solidFill>
              </a:rPr>
              <a:t>Hypotheses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questions, two pairs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965960"/>
          </a:xfrm>
          <a:prstGeom prst="rect">
            <a:avLst/>
          </a:prstGeom>
          <a:solidFill>
            <a:srgbClr val="FCF6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09728" cy="1965960"/>
          </a:xfrm>
          <a:prstGeom prst="rect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990011"/>
                </a:solidFill>
              </a:rPr>
              <a:t>PRIMARY HYPOTHESIS  —  spending and outcomes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286000"/>
            <a:ext cx="10515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H₀:  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Athletic spending share has no linear relationship with graduation rate (β = 0).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H₁:  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Athletic spending share is linearly associated with graduation rate (β ≠ 0).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931920"/>
            <a:ext cx="11064240" cy="1965960"/>
          </a:xfrm>
          <a:prstGeom prst="rect">
            <a:avLst/>
          </a:prstGeom>
          <a:solidFill>
            <a:srgbClr val="FCF6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3931920"/>
            <a:ext cx="109728" cy="1965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14400" y="4069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E2761"/>
                </a:solidFill>
              </a:rPr>
              <a:t>SECONDARY HYPOTHESIS  —  uniformity across divisions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4434840"/>
            <a:ext cx="10515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H₀:  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spending–graduation relationship is identical across NCAA divisions.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H₁:  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slope differs across divisions (tested via interaction F-test).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6B6B6B"/>
                </a:solidFill>
              </a:rPr>
              <a:t>Significance level: α = 0.05 throughout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</a:rPr>
              <a:t>Athletic Spending &amp; Graduation Outcomes</a:t>
            </a:r>
            <a:r>
              <a:rPr lang="en-US" sz="900" dirty="0">
                <a:solidFill>
                  <a:srgbClr val="B8B8B8"/>
                </a:solidFill>
              </a:rPr>
              <a:t>  |  </a:t>
            </a:r>
            <a:r>
              <a:rPr lang="en-US" sz="900" dirty="0">
                <a:solidFill>
                  <a:srgbClr val="6B6B6B"/>
                </a:solidFill>
              </a:rPr>
              <a:t>4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990011"/>
                </a:solidFill>
              </a:rPr>
              <a:t>Data Cleaning &amp; Preparation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1,319 raw rows to 445 analytical schools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E2761"/>
                </a:solidFill>
              </a:rPr>
              <a:t>Sample construction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6858000" cy="548640"/>
          </a:xfrm>
          <a:prstGeom prst="rect">
            <a:avLst/>
          </a:prstGeom>
          <a:solidFill>
            <a:srgbClr val="FCF6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</a:rPr>
              <a:t>EADA athletics universe (raw)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0" y="17830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9900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1,319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6858000" cy="548640"/>
          </a:xfrm>
          <a:prstGeom prst="rect">
            <a:avLst/>
          </a:prstGeom>
          <a:solidFill>
            <a:srgbClr val="FCF6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242316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</a:rPr>
              <a:t>Inner join with IPEDS Finance (F1A, public-only)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0" y="24231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9900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700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3063240"/>
            <a:ext cx="6858000" cy="548640"/>
          </a:xfrm>
          <a:prstGeom prst="rect">
            <a:avLst/>
          </a:prstGeom>
          <a:solidFill>
            <a:srgbClr val="FCF6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306324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</a:rPr>
              <a:t>Inner join with IPEDS Graduation Rates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0" y="30632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9900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494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3703320"/>
            <a:ext cx="6858000" cy="548640"/>
          </a:xfrm>
          <a:prstGeom prst="rect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2960" y="370332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Filter to NCAA divisions only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0" y="37033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445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680960" y="1371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E2761"/>
                </a:solidFill>
              </a:rPr>
              <a:t>Key cleaning steps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680960" y="1691640"/>
            <a:ext cx="41148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GR file long → wide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GRTYPE = 8 (cohort) and 9 (completers); reshaped one row per school.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two ratios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spendRate = sportsExpenses / totalExp,  gradRate = completers / cohort.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Collapsed classifications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FBS / FCS / D-I no football / D-II / D-III; combined with/without-football D-II splits.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retained, flagged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D-II schools spend &gt; 15% of budget on athletics. Kept; substantively meaningful.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</a:rPr>
              <a:t>Athletic Spending &amp; Graduation Outcomes</a:t>
            </a:r>
            <a:r>
              <a:rPr lang="en-US" sz="900" dirty="0">
                <a:solidFill>
                  <a:srgbClr val="B8B8B8"/>
                </a:solidFill>
              </a:rPr>
              <a:t>  |  </a:t>
            </a:r>
            <a:r>
              <a:rPr lang="en-US" sz="900" dirty="0">
                <a:solidFill>
                  <a:srgbClr val="6B6B6B"/>
                </a:solidFill>
              </a:rPr>
              <a:t>5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990011"/>
                </a:solidFill>
              </a:rPr>
              <a:t>Exploratory Data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Divisions differ on both axes</a:t>
            </a:r>
            <a:endParaRPr lang="en-US" sz="2800" dirty="0"/>
          </a:p>
        </p:txBody>
      </p:sp>
      <p:pic>
        <p:nvPicPr>
          <p:cNvPr id="4" name="Image 0" descr="/home/claude/project/plots/boxplot_spen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691640"/>
            <a:ext cx="5669280" cy="2286000"/>
          </a:xfrm>
          <a:prstGeom prst="rect">
            <a:avLst/>
          </a:prstGeom>
        </p:spPr>
      </p:pic>
      <p:pic>
        <p:nvPicPr>
          <p:cNvPr id="5" name="Image 1" descr="/home/claude/project/plots/boxplot_gradr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691640"/>
            <a:ext cx="5669280" cy="22860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4160520"/>
            <a:ext cx="11064240" cy="1828800"/>
          </a:xfrm>
          <a:prstGeom prst="rect">
            <a:avLst/>
          </a:prstGeom>
          <a:solidFill>
            <a:srgbClr val="FCF6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777240" y="42976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990011"/>
                </a:solidFill>
              </a:rPr>
              <a:t>WHAT THESE PLOTS SAY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777240" y="4663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Spending varies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777240" y="502920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FBS and FCS schools spend a higher share of budget on athletics (median ≈ 7%) than D-I no-football and D-II (median ≈ 4–5%).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4434840" y="4663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 rates vary more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434840" y="502920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FBS schools graduate ~67% within 6 years, vs. ~50–55% for FCS and D-II — a gap of 12–17 percentage points.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8092440" y="4663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Outliers are real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8092440" y="502920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D-II schools spend &gt; 15% of total budget on athletics. Kept in sample; flagged in cleaning.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</a:rPr>
              <a:t>Athletic Spending &amp; Graduation Outcomes</a:t>
            </a:r>
            <a:r>
              <a:rPr lang="en-US" sz="900" dirty="0">
                <a:solidFill>
                  <a:srgbClr val="B8B8B8"/>
                </a:solidFill>
              </a:rPr>
              <a:t>  |  </a:t>
            </a:r>
            <a:r>
              <a:rPr lang="en-US" sz="900" dirty="0">
                <a:solidFill>
                  <a:srgbClr val="6B6B6B"/>
                </a:solidFill>
              </a:rPr>
              <a:t>6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990011"/>
                </a:solidFill>
              </a:rPr>
              <a:t>Descriptive Statistics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NCAA division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Division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Mean spend share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Median spend share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Mean grad rate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Median grad rate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Within-div correlation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9900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D-I FBS</a:t>
                      </a:r>
                      <a:endParaRPr lang="en-US" sz="1200" dirty="0"/>
                    </a:p>
                  </a:txBody>
                  <a:tcPr marL="109728" marR="109728" marT="109728" marB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108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7.6%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6.7%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67.7%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67.6%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−0.32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D-I FCS</a:t>
                      </a:r>
                      <a:endParaRPr lang="en-US" sz="1200" dirty="0"/>
                    </a:p>
                  </a:txBody>
                  <a:tcPr marL="109728" marR="109728" marT="109728" marB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75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7.7%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7.7%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53.1%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53.4%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−0.22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D-I no football</a:t>
                      </a:r>
                      <a:endParaRPr lang="en-US" sz="1200" dirty="0"/>
                    </a:p>
                  </a:txBody>
                  <a:tcPr marL="109728" marR="109728" marT="109728" marB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46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5.0%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4.4%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56.4%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55.5%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−0.47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D-II</a:t>
                      </a:r>
                      <a:endParaRPr lang="en-US" sz="1200" dirty="0"/>
                    </a:p>
                  </a:txBody>
                  <a:tcPr marL="109728" marR="109728" marT="109728" marB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216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5.1%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3.9%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50.4%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50.4%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−0.32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029200"/>
            <a:ext cx="11064240" cy="1097280"/>
          </a:xfrm>
          <a:prstGeom prst="rect">
            <a:avLst/>
          </a:prstGeom>
          <a:solidFill>
            <a:srgbClr val="FCF6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51663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990011"/>
                </a:solidFill>
              </a:rPr>
              <a:t>READING THE TABLE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54406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within-division correlations are negative</a:t>
            </a: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schools that spend a higher share of budget on athletics tend to graduate fewer students. The correlation is strongest for D-I no football (−0.47) and weakest for D-I FCS (−0.22). Sample sizes are sufficient (n = 46 to 216) for inference within each group.</a:t>
            </a:r>
            <a:endParaRPr lang="en-US" sz="1200" dirty="0"/>
          </a:p>
        </p:txBody>
      </p:sp>
      <p:sp>
        <p:nvSpPr>
          <p:cNvPr id="4" name="Text 5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</a:rPr>
              <a:t>Athletic Spending &amp; Graduation Outcomes</a:t>
            </a:r>
            <a:r>
              <a:rPr lang="en-US" sz="900" dirty="0">
                <a:solidFill>
                  <a:srgbClr val="B8B8B8"/>
                </a:solidFill>
              </a:rPr>
              <a:t>  |  </a:t>
            </a:r>
            <a:r>
              <a:rPr lang="en-US" sz="900" dirty="0">
                <a:solidFill>
                  <a:srgbClr val="6B6B6B"/>
                </a:solidFill>
              </a:rPr>
              <a:t>7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990011"/>
                </a:solidFill>
              </a:rPr>
              <a:t>Headline Visualization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Spending share vs. graduation rate, by division</a:t>
            </a:r>
            <a:endParaRPr lang="en-US" sz="2600" dirty="0"/>
          </a:p>
        </p:txBody>
      </p:sp>
      <p:pic>
        <p:nvPicPr>
          <p:cNvPr id="4" name="Image 0" descr="/home/claude/project/plots/scatter_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91640"/>
            <a:ext cx="7863840" cy="43891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503920" y="1691640"/>
            <a:ext cx="3291840" cy="4389120"/>
          </a:xfrm>
          <a:prstGeom prst="rect">
            <a:avLst/>
          </a:prstGeom>
          <a:solidFill>
            <a:srgbClr val="FCF6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686800" y="18288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990011"/>
                </a:solidFill>
              </a:rPr>
              <a:t>WHAT TO LOOK AT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686800" y="2148840"/>
            <a:ext cx="30175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downward slopes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divisions show a negative within-group relationship.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FBS sits highest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at higher spending share, FBS schools graduate more students than peers in other divisions.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 sits near the FBS line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 spending share, 65% grad rate — close to predicted FBS conditional mean.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</a:rPr>
              <a:t>Athletic Spending &amp; Graduation Outcomes</a:t>
            </a:r>
            <a:r>
              <a:rPr lang="en-US" sz="900" dirty="0">
                <a:solidFill>
                  <a:srgbClr val="B8B8B8"/>
                </a:solidFill>
              </a:rPr>
              <a:t>  |  </a:t>
            </a:r>
            <a:r>
              <a:rPr lang="en-US" sz="900" dirty="0">
                <a:solidFill>
                  <a:srgbClr val="6B6B6B"/>
                </a:solidFill>
              </a:rPr>
              <a:t>8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990011"/>
                </a:solidFill>
              </a:rPr>
              <a:t>Modeling — Step 1: Pooled vs. Additive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Controlling for division reveals — not masks — the relationship</a:t>
            </a:r>
            <a:endParaRPr lang="en-US" sz="2400" dirty="0"/>
          </a:p>
        </p:txBody>
      </p:sp>
      <p:pic>
        <p:nvPicPr>
          <p:cNvPr id="4" name="Image 0" descr="/home/claude/project/plots/pooled_vs_addi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54480"/>
            <a:ext cx="11064240" cy="3657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349240"/>
            <a:ext cx="5440680" cy="868680"/>
          </a:xfrm>
          <a:prstGeom prst="rect">
            <a:avLst/>
          </a:prstGeom>
          <a:solidFill>
            <a:srgbClr val="FCF6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544068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pooled slope:  </a:t>
            </a: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−0.60</a:t>
            </a: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(R² = 2.4%)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172200" y="5349240"/>
            <a:ext cx="5440680" cy="868680"/>
          </a:xfrm>
          <a:prstGeom prst="rect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00800" y="544068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Within-division slope:  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−1.12</a:t>
            </a:r>
            <a:r>
              <a:rPr lang="en-US" sz="12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(R² = 29.8%)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</a:rPr>
              <a:t>Athletic Spending &amp; Graduation Outcomes</a:t>
            </a:r>
            <a:r>
              <a:rPr lang="en-US" sz="900" dirty="0">
                <a:solidFill>
                  <a:srgbClr val="B8B8B8"/>
                </a:solidFill>
              </a:rPr>
              <a:t>  |  </a:t>
            </a:r>
            <a:r>
              <a:rPr lang="en-US" sz="900" dirty="0">
                <a:solidFill>
                  <a:srgbClr val="6B6B6B"/>
                </a:solidFill>
              </a:rPr>
              <a:t>9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990011"/>
                </a:solidFill>
              </a:rPr>
              <a:t>Modeling — Step 2: Are slopes the same across divisions?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slope, different intercepts</a:t>
            </a:r>
            <a:endParaRPr lang="en-US" sz="2800" dirty="0"/>
          </a:p>
        </p:txBody>
      </p:sp>
      <p:pic>
        <p:nvPicPr>
          <p:cNvPr id="4" name="Image 0" descr="/home/claude/project/plots/coefficient_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54480"/>
            <a:ext cx="7772400" cy="3383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503920" y="1554480"/>
            <a:ext cx="3291840" cy="3383280"/>
          </a:xfrm>
          <a:prstGeom prst="rect">
            <a:avLst/>
          </a:prstGeom>
          <a:solidFill>
            <a:srgbClr val="FCF6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686800" y="16916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990011"/>
                </a:solidFill>
              </a:rPr>
              <a:t>F-TEST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686800" y="1965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Additive vs.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Interaction Model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0" y="2788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900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 = 1.56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8686800" y="3291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A3A3A"/>
                </a:solidFill>
              </a:rPr>
              <a:t>p = 0.199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686800" y="38404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to reject H₀.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Slopes do not differ significantly across divisions.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5166360"/>
            <a:ext cx="11064240" cy="9144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68680" y="534924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kern="0" spc="4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negative spending–graduation relationship operates at roughly the same magnitude across NCAA divisions, despite large baseline differences in average graduation rates.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</a:rPr>
              <a:t>Athletic Spending &amp; Graduation Outcomes</a:t>
            </a:r>
            <a:r>
              <a:rPr lang="en-US" sz="900" dirty="0">
                <a:solidFill>
                  <a:srgbClr val="B8B8B8"/>
                </a:solidFill>
              </a:rPr>
              <a:t>  |  </a:t>
            </a:r>
            <a:r>
              <a:rPr lang="en-US" sz="900" dirty="0">
                <a:solidFill>
                  <a:srgbClr val="6B6B6B"/>
                </a:solidFill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990011"/>
                </a:solidFill>
              </a:rPr>
              <a:t>Hypothesis Tests — Full 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tests significant except FCS-only slope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Test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Statistic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p-value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Decision (α = 0.05)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Interpretation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9900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</a:rPr>
                        <a:t>Within-division: D-I FBS</a:t>
                      </a:r>
                      <a:endParaRPr lang="en-US" sz="1100" dirty="0"/>
                    </a:p>
                  </a:txBody>
                  <a:tcPr marL="109728" marR="109728" marT="109728" marB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β = −1.07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0.0008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990011"/>
                          </a:solidFill>
                        </a:rPr>
                        <a:t>Reject H₀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Negative slope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</a:rPr>
                        <a:t>Within-division: D-I FCS</a:t>
                      </a:r>
                      <a:endParaRPr lang="en-US" sz="1100" dirty="0"/>
                    </a:p>
                  </a:txBody>
                  <a:tcPr marL="109728" marR="109728" marT="109728" marB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β = −0.99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0.061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 dirty="0">
                          <a:solidFill>
                            <a:srgbClr val="6B6B6B"/>
                          </a:solidFill>
                        </a:rPr>
                        <a:t>Marginal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Negative, p just above 0.05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</a:rPr>
                        <a:t>Within-division: D-I no football</a:t>
                      </a:r>
                      <a:endParaRPr lang="en-US" sz="1100" dirty="0"/>
                    </a:p>
                  </a:txBody>
                  <a:tcPr marL="109728" marR="109728" marT="109728" marB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β = −2.55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0.001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990011"/>
                          </a:solidFill>
                        </a:rPr>
                        <a:t>Reject H₀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Steepest negative slope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</a:rPr>
                        <a:t>Within-division: D-II</a:t>
                      </a:r>
                      <a:endParaRPr lang="en-US" sz="1100" dirty="0"/>
                    </a:p>
                  </a:txBody>
                  <a:tcPr marL="109728" marR="109728" marT="109728" marB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β = −1.03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&lt; 0.001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990011"/>
                          </a:solidFill>
                        </a:rPr>
                        <a:t>Reject H₀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Negative slope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</a:rPr>
                        <a:t>Pooled (no controls)</a:t>
                      </a:r>
                      <a:endParaRPr lang="en-US" sz="1100" dirty="0"/>
                    </a:p>
                  </a:txBody>
                  <a:tcPr marL="109728" marR="109728" marT="109728" marB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β = −0.60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&lt; 0.001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990011"/>
                          </a:solidFill>
                        </a:rPr>
                        <a:t>Reject H₀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Attenuated by between-division variation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</a:rPr>
                        <a:t>Interaction F-test (slopes differ?)</a:t>
                      </a:r>
                      <a:endParaRPr lang="en-US" sz="1100" dirty="0"/>
                    </a:p>
                  </a:txBody>
                  <a:tcPr marL="109728" marR="109728" marT="109728" marB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F = 1.56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0.199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 dirty="0">
                          <a:solidFill>
                            <a:srgbClr val="1E2761"/>
                          </a:solidFill>
                        </a:rPr>
                        <a:t>Fail to reject H₀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Slopes are similar across divisions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</a:rPr>
                        <a:t>ANOVA: gradRate ~ division</a:t>
                      </a:r>
                      <a:endParaRPr lang="en-US" sz="1100" dirty="0"/>
                    </a:p>
                  </a:txBody>
                  <a:tcPr marL="109728" marR="109728" marT="109728" marB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F = 42.3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&lt; 0.001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990011"/>
                          </a:solidFill>
                        </a:rPr>
                        <a:t>Reject H₀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Divisions differ in mean grad rate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</a:rPr>
                        <a:t>ANOVA: spendRate ~ division</a:t>
                      </a:r>
                      <a:endParaRPr lang="en-US" sz="1100" dirty="0"/>
                    </a:p>
                  </a:txBody>
                  <a:tcPr marL="109728" marR="109728" marT="109728" marB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F = 17.0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&lt; 0.001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990011"/>
                          </a:solidFill>
                        </a:rPr>
                        <a:t>Reject H₀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Divisions differ in mean spend share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</a:rPr>
              <a:t>Athletic Spending &amp; Graduation Outcomes</a:t>
            </a:r>
            <a:r>
              <a:rPr lang="en-US" sz="900" dirty="0">
                <a:solidFill>
                  <a:srgbClr val="B8B8B8"/>
                </a:solidFill>
              </a:rPr>
              <a:t>  |  </a:t>
            </a:r>
            <a:r>
              <a:rPr lang="en-US" sz="900" dirty="0">
                <a:solidFill>
                  <a:srgbClr val="6B6B6B"/>
                </a:solidFill>
              </a:rPr>
              <a:t>11 / 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990011"/>
                </a:solidFill>
              </a:rPr>
              <a:t>Insights &amp; Recommendations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means — and what it doesn't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2194560"/>
          </a:xfrm>
          <a:prstGeom prst="rect">
            <a:avLst/>
          </a:prstGeom>
          <a:solidFill>
            <a:srgbClr val="FCF6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91440" cy="2194560"/>
          </a:xfrm>
          <a:prstGeom prst="rect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990011"/>
                </a:solidFill>
              </a:rPr>
              <a:t>FINDING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Negative correlation is robust across divisions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1pp increase in athletic spending share is associated with roughly a 1pp drop in 6-year graduation rate. The relationship survives controlling for division.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783080"/>
            <a:ext cx="5440680" cy="2194560"/>
          </a:xfrm>
          <a:prstGeom prst="rect">
            <a:avLst/>
          </a:prstGeom>
          <a:solidFill>
            <a:srgbClr val="FCF6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172200" y="1783080"/>
            <a:ext cx="91440" cy="2194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46520" y="196596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E2761"/>
                </a:solidFill>
              </a:rPr>
              <a:t>CAVEAT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46520" y="224028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Correlation, not causation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46520" y="292608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 with weaker academic profiles may rely more heavily on athletics for enrollment and branding. Spending share may be a symptom, not a cause.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5440680" cy="2194560"/>
          </a:xfrm>
          <a:prstGeom prst="rect">
            <a:avLst/>
          </a:prstGeom>
          <a:solidFill>
            <a:srgbClr val="FCF6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48640" y="4114800"/>
            <a:ext cx="91440" cy="2194560"/>
          </a:xfrm>
          <a:prstGeom prst="rect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2960" y="429768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990011"/>
                </a:solidFill>
              </a:rPr>
              <a:t>POLICY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457200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Athletic budget decisions are not academically neutral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525780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Administrators considering increases to athletic spending share should not assume zero effect on graduation outcomes — the descriptive relationship suggests caution.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4114800"/>
            <a:ext cx="5440680" cy="2194560"/>
          </a:xfrm>
          <a:prstGeom prst="rect">
            <a:avLst/>
          </a:prstGeom>
          <a:solidFill>
            <a:srgbClr val="FCF6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172200" y="4114800"/>
            <a:ext cx="91440" cy="2194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46520" y="429768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E2761"/>
                </a:solidFill>
              </a:rPr>
              <a:t>FUTURE WORK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46520" y="457200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Causal identification requires panel data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46520" y="525780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Within-school variation, conference reclassifications, and unexpected athletic outcomes (Pope &amp; Pope 2009; Anderson 2017) provide identification strategies for causal claims.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</a:rPr>
              <a:t>Athletic Spending &amp; Graduation Outcomes</a:t>
            </a:r>
            <a:r>
              <a:rPr lang="en-US" sz="900" dirty="0">
                <a:solidFill>
                  <a:srgbClr val="B8B8B8"/>
                </a:solidFill>
              </a:rPr>
              <a:t>  |  </a:t>
            </a:r>
            <a:r>
              <a:rPr lang="en-US" sz="900" dirty="0">
                <a:solidFill>
                  <a:srgbClr val="6B6B6B"/>
                </a:solidFill>
              </a:rPr>
              <a:t>12 /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990011"/>
                </a:solidFill>
              </a:rPr>
              <a:t>References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sources &amp; academic literature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990011"/>
                </a:solidFill>
              </a:rPr>
              <a:t>DATA SOURCES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87680" y="2304978"/>
            <a:ext cx="5394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Department of Education. (2024). </a:t>
            </a: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in Athletics Disclosure Act (EADA) Database, 2023. 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of Postsecondary Education. https://ope.ed.gov/athletics/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Center for Education Statistics. (2024). </a:t>
            </a: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Postsecondary Education Data System (IPEDS) Finance Survey, F1A 2022–23 (Final/revised). 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Department of Education. https://nces.ed.gov/ipeds/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Center for Education Statistics. (2024). </a:t>
            </a: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IPEDS Graduation Rates Survey (GR2023, Final/revised). 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Department of Education. 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https://nces.ed.gov/ipeds/</a:t>
            </a:r>
            <a:endParaRPr lang="en-US" sz="12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endParaRPr lang="en-US" sz="12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30000"/>
              </a:lnSpc>
            </a:pPr>
            <a:r>
              <a:rPr lang="en-US" sz="1200" dirty="0"/>
              <a:t>Anthropic. (2026). </a:t>
            </a:r>
            <a:r>
              <a:rPr lang="en-US" sz="1200" i="1" dirty="0"/>
              <a:t>Claude (Opus 4.7) [Large language model]</a:t>
            </a:r>
            <a:r>
              <a:rPr lang="en-US" sz="1200" dirty="0"/>
              <a:t>. Used for code structure, debugging, and analytical guidance throughout the project. </a:t>
            </a:r>
            <a:r>
              <a:rPr lang="en-US" sz="1200" dirty="0">
                <a:hlinkClick r:id="rId4"/>
              </a:rPr>
              <a:t>https://claude.ai</a:t>
            </a:r>
            <a:endParaRPr lang="en-US" sz="1200" dirty="0"/>
          </a:p>
          <a:p>
            <a:pPr>
              <a:lnSpc>
                <a:spcPct val="130000"/>
              </a:lnSpc>
            </a:pPr>
            <a:endParaRPr lang="en-US" sz="1200" dirty="0"/>
          </a:p>
          <a:p>
            <a:pPr>
              <a:lnSpc>
                <a:spcPct val="130000"/>
              </a:lnSpc>
            </a:pPr>
            <a:r>
              <a:rPr lang="en-US" sz="1200" dirty="0" err="1"/>
              <a:t>RPubs</a:t>
            </a:r>
            <a:r>
              <a:rPr lang="en-US" sz="1200" dirty="0"/>
              <a:t>: Wong, K. </a:t>
            </a:r>
            <a:r>
              <a:rPr lang="en-US" sz="1200" i="1" dirty="0"/>
              <a:t>Tidy Regression Output with broom</a:t>
            </a:r>
            <a:r>
              <a:rPr lang="en-US" sz="1200" dirty="0"/>
              <a:t>. </a:t>
            </a:r>
            <a:r>
              <a:rPr lang="en-US" sz="1200" dirty="0">
                <a:hlinkClick r:id="rId5"/>
              </a:rPr>
              <a:t>https://rpubs.com/aaronsc32/regression-with-broom</a:t>
            </a:r>
            <a:endParaRPr lang="en-US" sz="1200" dirty="0"/>
          </a:p>
          <a:p>
            <a:pPr>
              <a:lnSpc>
                <a:spcPct val="130000"/>
              </a:lnSpc>
            </a:pPr>
            <a:endParaRPr lang="en-US" sz="1200" dirty="0"/>
          </a:p>
          <a:p>
            <a:pPr>
              <a:lnSpc>
                <a:spcPct val="130000"/>
              </a:lnSpc>
            </a:pPr>
            <a:r>
              <a:rPr lang="en-US" sz="1200" dirty="0"/>
              <a:t>R Documentation, </a:t>
            </a:r>
            <a:r>
              <a:rPr lang="en-US" sz="1200" i="1" dirty="0"/>
              <a:t>Linear Models</a:t>
            </a:r>
            <a:r>
              <a:rPr lang="en-US" sz="1200" dirty="0"/>
              <a:t> (</a:t>
            </a:r>
            <a:r>
              <a:rPr lang="en-US" dirty="0"/>
              <a:t>?</a:t>
            </a:r>
            <a:r>
              <a:rPr lang="en-US" dirty="0" err="1"/>
              <a:t>lm</a:t>
            </a:r>
            <a:r>
              <a:rPr lang="en-US" sz="1200" dirty="0"/>
              <a:t>, </a:t>
            </a:r>
            <a:r>
              <a:rPr lang="en-US" dirty="0"/>
              <a:t>?</a:t>
            </a:r>
            <a:r>
              <a:rPr lang="en-US" dirty="0" err="1"/>
              <a:t>anova</a:t>
            </a:r>
            <a:r>
              <a:rPr lang="en-US" sz="1200" dirty="0"/>
              <a:t>). </a:t>
            </a:r>
            <a:r>
              <a:rPr lang="en-US" sz="1200" dirty="0">
                <a:hlinkClick r:id="rId6"/>
              </a:rPr>
              <a:t>https://stat.ethz.ch/R-manual/R-devel/library/stats/html/lm.html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17920" y="16916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990011"/>
                </a:solidFill>
              </a:rPr>
              <a:t>ACADEMIC LITERATURE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217920" y="2011680"/>
            <a:ext cx="5486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Anderson, M. L. (2017). The benefits of college athletic success: An application of the propensity score design. </a:t>
            </a: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of Economics and Statistics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99(1), 119–134.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Pope, D. G., &amp; Pope, J. C. (2009). The impact of college sports success on the quantity and quality of student applications. </a:t>
            </a: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Southern Economic Journal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75(3), 750–780.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Knight Commission on Intercollegiate Athletics. (2024). </a:t>
            </a: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Athletic Financial Information (CAFI) Database. 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https://cafidatabase.knightcommission.org/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Hoffer, A., Humphreys, B. R., Lacombe, D. J., &amp; Ruseski, J. E. (2015). Trends in NCAA athletic spending: Arms race or rising tide? </a:t>
            </a: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of Sports Economics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16(6), 576–596.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</a:rPr>
              <a:t>Athletic Spending &amp; Graduation Outcomes</a:t>
            </a:r>
            <a:r>
              <a:rPr lang="en-US" sz="900" dirty="0">
                <a:solidFill>
                  <a:srgbClr val="B8B8B8"/>
                </a:solidFill>
              </a:rPr>
              <a:t>  |  </a:t>
            </a:r>
            <a:r>
              <a:rPr lang="en-US" sz="900" dirty="0">
                <a:solidFill>
                  <a:srgbClr val="6B6B6B"/>
                </a:solidFill>
              </a:rPr>
              <a:t>13 / 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1725</Words>
  <Application>Microsoft Office PowerPoint</Application>
  <PresentationFormat>Widescreen</PresentationFormat>
  <Paragraphs>263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Athletic Spending and Graduation Outcomes</dc:title>
  <dc:subject>PptxGenJS Presentation</dc:subject>
  <dc:creator>Valentino Salerni</dc:creator>
  <cp:lastModifiedBy>Valentino Salerni</cp:lastModifiedBy>
  <cp:revision>2</cp:revision>
  <dcterms:created xsi:type="dcterms:W3CDTF">2026-04-30T20:31:07Z</dcterms:created>
  <dcterms:modified xsi:type="dcterms:W3CDTF">2026-04-30T20:46:36Z</dcterms:modified>
</cp:coreProperties>
</file>